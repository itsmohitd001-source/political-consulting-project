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explosion val="12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F5-40AD-8406-992ECE501FA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F8-4541-A099-D58A801089B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F5-40AD-8406-992ECE501FA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FF5-40AD-8406-992ECE501FA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FF5-40AD-8406-992ECE501FA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FF5-40AD-8406-992ECE501FA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FF5-40AD-8406-992ECE501FA8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4FF5-40AD-8406-992ECE501FA8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FF5-40AD-8406-992ECE501FA8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0F8-4541-A099-D58A801089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8"/>
                <c:pt idx="1">
                  <c:v>Hindu</c:v>
                </c:pt>
                <c:pt idx="2">
                  <c:v>Muslim</c:v>
                </c:pt>
                <c:pt idx="3">
                  <c:v>Sikh</c:v>
                </c:pt>
                <c:pt idx="4">
                  <c:v>Christian</c:v>
                </c:pt>
                <c:pt idx="5">
                  <c:v>Buddhist</c:v>
                </c:pt>
                <c:pt idx="6">
                  <c:v>Jain</c:v>
                </c:pt>
                <c:pt idx="7">
                  <c:v>Other</c:v>
                </c:pt>
              </c:strCache>
            </c:strRef>
          </c:cat>
          <c:val>
            <c:numRef>
              <c:f>Sheet1!$B$2:$B$11</c:f>
              <c:numCache>
                <c:formatCode>0.00%</c:formatCode>
                <c:ptCount val="10"/>
                <c:pt idx="1">
                  <c:v>0.82969999999999999</c:v>
                </c:pt>
                <c:pt idx="2">
                  <c:v>0.13950000000000001</c:v>
                </c:pt>
                <c:pt idx="3">
                  <c:v>2.3400000000000001E-2</c:v>
                </c:pt>
                <c:pt idx="4">
                  <c:v>3.7000000000000002E-3</c:v>
                </c:pt>
                <c:pt idx="5">
                  <c:v>1.5E-3</c:v>
                </c:pt>
                <c:pt idx="6">
                  <c:v>8.9999999999999998E-4</c:v>
                </c:pt>
                <c:pt idx="7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8-4541-A099-D58A801089B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8"/>
        <c:delete val="1"/>
      </c:legendEntry>
      <c:legendEntry>
        <c:idx val="9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7FE55-7147-4746-841B-6AD41DB29CB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4BAD4-C700-4517-98B0-CD83B1A9A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8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2AD3-AD32-DF36-0982-BF8196F53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89012-2317-AD4C-D2D8-B0D49350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5444-9C13-DE0A-30FA-1AE33DC60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A10F8-50ED-E1B8-6ECF-DE96F72B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D2297-1990-5F30-9F96-5205471B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B47F-C84D-978F-127D-1FB820F5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2BA22-C461-2231-D2B3-92B7B320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6351B-E8F6-EF41-1346-74D9C55A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D1F6-C0C4-61F8-EF4E-2CC67A03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A308-AD60-15DB-917C-2F41ECBC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58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6271-57DA-7513-3772-1258EAA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848B6-0CB8-F8BF-6489-9349DDAAB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BD74-ADE7-61E7-A542-C62F10E3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EC6C8-B935-D020-09B6-8C63CF49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B89AC-10C8-5B0C-C5D0-378F139B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03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0152-E0B0-B98E-37ED-417FB9841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EAB9-9991-7024-75A2-CA7131009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F805B-F584-5080-D56C-BEE8B7235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757E5-8B3F-9D68-B570-00E67DA6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99A24-9BD6-188D-8438-5B152AC2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328A9-CA74-9253-D325-BD12C0EB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35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D124-E366-B319-E29D-48B79A15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DC643-4631-0B21-0E68-8084923FB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03A3A-83E8-1298-14FC-0072AE939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CC009-2628-3233-F14E-1AF03E603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97D6E-B552-F406-3F9B-2A8817C37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FD81B-BCBE-C396-1B1E-964C870A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7CEEFA-2FB6-0E50-138E-5FC056A9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32B67-3C07-E0EB-93EF-AB21E361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5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4231-4C27-D10B-9CD2-28C488C7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8A64F-8A13-9980-2590-9AB7C461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AF98E-5702-7AE4-2857-BE1A1165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BBB4D-CE54-3A2F-8584-03C2943B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1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82BD2-25CE-E599-FFE1-2B1B7F8C4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C8BAA-99BF-91ED-6109-5AF709D67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D5F72-1E18-BB85-472C-6AF9BDD8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49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27DC-7617-EC83-9AC1-1633A33F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87CA7-F3BF-8087-F138-3F4F87D2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38CFD-C486-76D2-A98F-C0566F0B0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5D5A-515C-4459-EE94-986DC86B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39A01-CADF-A48E-11E0-1A9EFF7D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DC0D6-EC94-11DC-1F59-DF1E7E12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29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57D92-82C5-3917-4C0B-9E431CDB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0608E-4931-3C24-B5EE-9FFBF6B39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C2788-9801-00D8-BBAA-9D1FD5278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0ECA0-5E2A-6B20-4702-88244C78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17210-562C-480C-E3DD-6A6CE08D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E314-5A10-149F-F20C-4E641ADC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38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8B2A-6BD6-11EA-C165-71E05A95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097CD-4E07-8CDD-9042-3E171401C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29EA-783C-E5EE-82B7-4DD4EF03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27A7A-D6C2-5B4B-029D-2915B94B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E0C8D-0A04-644D-C3B8-25948492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9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5333D-281A-72CE-5A96-353EF8CDB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774D1-B363-DF09-4B2F-46A620178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0283C-0112-EDBD-E8D8-25395BBB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C654-1343-9494-D0DC-269A8F7C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AE33-61C2-2876-9018-4B3B7698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9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0BB4F-EA7C-A72E-AF94-A79AB59B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D39A0-FE14-2FCD-2FC4-F1E2AA9A0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EBFB0-E358-3218-82B0-FC5F2AA8E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00915-17ED-4478-A884-4DD018424D1F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43955-BBE7-1ED6-1E24-D805E9631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8482-DEBF-A789-886A-A0EE75884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DA985-1127-41B8-BD72-D9B0EA20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9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ity.club/lists/u/uttarakhand-temple-map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6852A2A-C5D7-233D-2DBD-8105117111A1}"/>
              </a:ext>
            </a:extLst>
          </p:cNvPr>
          <p:cNvSpPr/>
          <p:nvPr/>
        </p:nvSpPr>
        <p:spPr>
          <a:xfrm>
            <a:off x="388620" y="381000"/>
            <a:ext cx="11170920" cy="6096000"/>
          </a:xfrm>
          <a:prstGeom prst="rect">
            <a:avLst/>
          </a:prstGeom>
          <a:effectLst>
            <a:outerShdw blurRad="50800" dist="88900" dir="13320000" algn="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D3308-DAA5-1E41-78CC-DCE0258D5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77818"/>
            <a:ext cx="4678680" cy="2392679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Uttarakhand Elections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3B878-3F15-4DAB-D7AA-48B5B1A4E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4940" y="3970497"/>
            <a:ext cx="3253740" cy="1679099"/>
          </a:xfrm>
        </p:spPr>
        <p:txBody>
          <a:bodyPr/>
          <a:lstStyle/>
          <a:p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Analysis and way ahead</a:t>
            </a:r>
          </a:p>
          <a:p>
            <a:r>
              <a:rPr lang="en-US" sz="1600" b="1" i="1" dirty="0">
                <a:solidFill>
                  <a:schemeClr val="tx2">
                    <a:lumMod val="75000"/>
                  </a:schemeClr>
                </a:solidFill>
              </a:rPr>
              <a:t>                           Based on 2022 data </a:t>
            </a:r>
            <a:endParaRPr lang="en-IN" sz="16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31E47D-5879-C0D5-6F75-24B73627B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86400" y="1791754"/>
            <a:ext cx="5791200" cy="3853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0E3601-F5C4-1782-579B-21629A0307A9}"/>
              </a:ext>
            </a:extLst>
          </p:cNvPr>
          <p:cNvSpPr txBox="1"/>
          <p:nvPr/>
        </p:nvSpPr>
        <p:spPr>
          <a:xfrm flipH="1">
            <a:off x="2873829" y="5959956"/>
            <a:ext cx="299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Mohit Devrari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804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C588-9DB0-E31C-D9F7-C19A2056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INDEX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0F55A-6301-7E7A-806A-AA3CCA9C9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543" y="1480475"/>
            <a:ext cx="10874829" cy="4466982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Brief History of elections in Uttarakhand</a:t>
            </a:r>
            <a:r>
              <a:rPr lang="en-US" sz="8000" dirty="0"/>
              <a:t>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Analysis of 2022 elections data.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Manifesto highlights of major parties.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Why BJP won the elections?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Why Opposition lost the elections?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Navigating the election strategy for 2027 elections for INC.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       a. Real time data analysis of people of Uttarakhand</a:t>
            </a:r>
            <a:r>
              <a:rPr lang="en-US" sz="8000" b="1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r>
              <a:rPr lang="en-US" sz="8000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Strategy based on the sample data and recent affairs.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 Area-Wise Seat Analysis: Where Congress Won &amp; Where It Lost.</a:t>
            </a:r>
            <a:endParaRPr lang="en-IN" sz="8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Strategy for strong areas in the state.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Strategy for weak areas in the state.</a:t>
            </a:r>
          </a:p>
          <a:p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The End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DCE2DB-97B3-E42B-2B60-0238B6E3137A}"/>
              </a:ext>
            </a:extLst>
          </p:cNvPr>
          <p:cNvCxnSpPr>
            <a:cxnSpLocks/>
          </p:cNvCxnSpPr>
          <p:nvPr/>
        </p:nvCxnSpPr>
        <p:spPr>
          <a:xfrm>
            <a:off x="838200" y="6294120"/>
            <a:ext cx="1018032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81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D393-7DA7-43C9-6DD6-403D9FDDC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974"/>
            <a:ext cx="10515600" cy="1325563"/>
          </a:xfrm>
        </p:spPr>
        <p:txBody>
          <a:bodyPr/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Brief History of Elections in Uttarakhand   </a:t>
            </a:r>
            <a:endParaRPr lang="en-IN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A9A4E-9220-2173-994E-558EF94E2492}"/>
              </a:ext>
            </a:extLst>
          </p:cNvPr>
          <p:cNvSpPr txBox="1"/>
          <p:nvPr/>
        </p:nvSpPr>
        <p:spPr>
          <a:xfrm>
            <a:off x="1407886" y="3316514"/>
            <a:ext cx="12192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C0D09-96D4-E8E3-64D1-AB893723CB8C}"/>
              </a:ext>
            </a:extLst>
          </p:cNvPr>
          <p:cNvSpPr txBox="1"/>
          <p:nvPr/>
        </p:nvSpPr>
        <p:spPr>
          <a:xfrm>
            <a:off x="1407886" y="331651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292F80F2-E279-9E0D-631A-71F9D7068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66" y="-2248787"/>
            <a:ext cx="9366794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State Formation &amp; First Election (2002):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Uttarakhand was carved out of Uttar Pradesh in 2000. The first Assembly election in 2002 was won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Indian National Congress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Alternating Power (2002–2017):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Politics largely revolved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BJP vs Congress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with power alternating almost every election (2002 – Congress, 2007 – BJP, 2012 – Congress).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BJP Dominance Phase (2017):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 2017, BJP won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landslide majority (57/70 seats)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marking a strong consolidation of its vote base across hills and plains.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Breaking the “No Repeat” Pattern (2022):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Historically, voters alternated governments every 5 years, but in 2022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BJP retained power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, breaking the state’s trend of anti-incumbency-driven change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82B7DD-B532-3034-6452-1FA272F9C23D}"/>
              </a:ext>
            </a:extLst>
          </p:cNvPr>
          <p:cNvCxnSpPr/>
          <p:nvPr/>
        </p:nvCxnSpPr>
        <p:spPr>
          <a:xfrm>
            <a:off x="981166" y="6385560"/>
            <a:ext cx="9839234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674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D7053-0DB3-7663-91F0-C9239148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27" y="563881"/>
            <a:ext cx="7584873" cy="782320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Analysis of 2022 elections data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br>
              <a:rPr lang="en-US" dirty="0"/>
            </a:br>
            <a:endParaRPr lang="en-IN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222348D2-69EC-E0DE-D54A-95E03A918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20" y="2044961"/>
            <a:ext cx="3172143" cy="207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1A423F-47D2-7528-FFA9-5142DE696CAE}"/>
              </a:ext>
            </a:extLst>
          </p:cNvPr>
          <p:cNvSpPr txBox="1"/>
          <p:nvPr/>
        </p:nvSpPr>
        <p:spPr>
          <a:xfrm>
            <a:off x="10928570" y="2749120"/>
            <a:ext cx="1267105" cy="1037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54" name="Picture 6" descr="undefined">
            <a:extLst>
              <a:ext uri="{FF2B5EF4-FFF2-40B4-BE49-F238E27FC236}">
                <a16:creationId xmlns:a16="http://schemas.microsoft.com/office/drawing/2014/main" id="{AFD6E295-09F1-E8BE-3166-C45CF7723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886" y="1077326"/>
            <a:ext cx="5998801" cy="401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02E844-0C2F-C33B-B202-1E647BE57495}"/>
              </a:ext>
            </a:extLst>
          </p:cNvPr>
          <p:cNvCxnSpPr/>
          <p:nvPr/>
        </p:nvCxnSpPr>
        <p:spPr>
          <a:xfrm>
            <a:off x="1112520" y="6202680"/>
            <a:ext cx="90220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487920-69E8-BF66-64B5-68A3662FE8BA}"/>
              </a:ext>
            </a:extLst>
          </p:cNvPr>
          <p:cNvSpPr txBox="1"/>
          <p:nvPr/>
        </p:nvSpPr>
        <p:spPr>
          <a:xfrm>
            <a:off x="2520891" y="5418567"/>
            <a:ext cx="8490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Distribution of seats of Uttarakhand State Assembly after 2022 elections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97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798E-B3D6-BED0-EDF0-90D7B913B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60" y="538361"/>
            <a:ext cx="10149840" cy="680839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Manifesto highlights of major parties </a:t>
            </a:r>
            <a:endParaRPr lang="en-IN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C5FDE5-813C-E901-8825-2957DABD0147}"/>
              </a:ext>
            </a:extLst>
          </p:cNvPr>
          <p:cNvCxnSpPr>
            <a:cxnSpLocks/>
          </p:cNvCxnSpPr>
          <p:nvPr/>
        </p:nvCxnSpPr>
        <p:spPr>
          <a:xfrm flipH="1">
            <a:off x="838200" y="6309360"/>
            <a:ext cx="1014984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1640D7-C3B6-8CB9-B8BF-C4C846E636A1}"/>
              </a:ext>
            </a:extLst>
          </p:cNvPr>
          <p:cNvSpPr txBox="1"/>
          <p:nvPr/>
        </p:nvSpPr>
        <p:spPr>
          <a:xfrm>
            <a:off x="530861" y="1569720"/>
            <a:ext cx="40284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AAP Party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End corruption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24x7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electricity, free electricity up to 300 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Employment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₹1000/month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for women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Education revolution, improvement of government schools.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Healthcare revolution, improvement in health facilities and building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 Mohalla Clinics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in every village.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Revamp roads and build roads to every village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pilgrimage (Teerth Yatra) to the elderly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Making Uttarakhand the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spiritual capital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for Hindus.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F625D-BD8D-9D02-892A-CD0FA2FE3E11}"/>
              </a:ext>
            </a:extLst>
          </p:cNvPr>
          <p:cNvSpPr txBox="1"/>
          <p:nvPr/>
        </p:nvSpPr>
        <p:spPr>
          <a:xfrm>
            <a:off x="5562601" y="1569720"/>
            <a:ext cx="54254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/>
              <a:t>INC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Capping the price of a gas cylinder for consumers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at ₹500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Income support of ₹40,000 annually for the poorest five lakh families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Doorstep Medical service under Health facilities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‘Har Gaon Har </a:t>
            </a:r>
            <a:r>
              <a:rPr lang="en-US" sz="1600" b="1" dirty="0" err="1">
                <a:solidFill>
                  <a:schemeClr val="tx2">
                    <a:lumMod val="75000"/>
                  </a:schemeClr>
                </a:solidFill>
              </a:rPr>
              <a:t>Dwar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’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initiative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Ensuring employment opportunities to 4 lakh youth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Free travel for women in state transport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Setting up of the state’s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“first sports university”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Withdrawing cases against farmers filed during protests against the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now-repealed farm laws.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Comprehensive educational framework with increased budget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Resume “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Mere </a:t>
            </a:r>
            <a:r>
              <a:rPr lang="en-US" sz="1600" b="1" dirty="0" err="1">
                <a:solidFill>
                  <a:schemeClr val="tx2">
                    <a:lumMod val="75000"/>
                  </a:schemeClr>
                </a:solidFill>
              </a:rPr>
              <a:t>Bujurg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 Mere Teerth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” (my elders my pilgrimage) along with pension to the senior citizens.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91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5A42-E2BE-91A6-7C3E-A12166DD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9715500" cy="1006475"/>
          </a:xfrm>
        </p:spPr>
        <p:txBody>
          <a:bodyPr>
            <a:normAutofit/>
          </a:bodyPr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Manifestos highlights of major parties 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BD069D-BD05-459C-F7AB-88F744E3441E}"/>
              </a:ext>
            </a:extLst>
          </p:cNvPr>
          <p:cNvCxnSpPr/>
          <p:nvPr/>
        </p:nvCxnSpPr>
        <p:spPr>
          <a:xfrm>
            <a:off x="1021080" y="6507480"/>
            <a:ext cx="982980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82CBD0-E540-FFF7-3F92-B3FF1DC97BCE}"/>
              </a:ext>
            </a:extLst>
          </p:cNvPr>
          <p:cNvSpPr txBox="1"/>
          <p:nvPr/>
        </p:nvSpPr>
        <p:spPr>
          <a:xfrm>
            <a:off x="640080" y="1628814"/>
            <a:ext cx="105918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BJP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45 new tourism spots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will be developed.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Rs 6000 from central and Rs 6000 from state government will be given under Kisan Samman Nidhi.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 cylinders free of cost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to poor houses in a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Apart from this, Rs 2000 per month will be given to women of BPL family, Rs 1000 per month to poor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Trees will not be cut  , they will be transplanted.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Mobile hospitals will be developed in every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Medical colleges will be developed in every district..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Party promised a stricter law on ‘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love jihad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’ and necessary measures to stop the demographic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Completing the Char Dham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all-weather road project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by the end of year of elections and launch seven ropeway projects, including one in Kedarnath and another in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Hemkund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Sahib.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Connecting all the villages in Uttarakhand with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4G/5G mobile network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and high-speed broadband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To improve transport services, procurement of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1,000 electric buses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10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6597-86E6-89E6-D95B-AEBB165B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Why BJP won the elections?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8D48-2537-3225-A884-511EA9F4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253331"/>
            <a:ext cx="11094720" cy="2526175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Hindutva Push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: Promises of 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Uniform Civil Code (UCC)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and strict anti-"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Love Jihad"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law consolidated the core Hindu vote bank.</a:t>
            </a:r>
          </a:p>
          <a:p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"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Double-Engine" Govt Narrative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: Leveraged PM Modi's popularity and the narrative that having BJP at the Centre and State ensures faster development.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 Targeted Direct Benefit Schemes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: Direct benefit promises like ₹2,000/month to women, free LPG cylinders, and cash for pregnant women swung the female vote.</a:t>
            </a: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Infrastructural </a:t>
            </a:r>
            <a:r>
              <a:rPr lang="en-US" sz="1800" b="1" dirty="0" err="1">
                <a:solidFill>
                  <a:schemeClr val="tx2">
                    <a:lumMod val="75000"/>
                  </a:schemeClr>
                </a:solidFill>
              </a:rPr>
              <a:t>Developement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: Showcased ongoing work on the 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Char Dham all-weather road project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as proof of delivery.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31D2F2-E2DB-ABC0-3A6B-C968C8013A0F}"/>
              </a:ext>
            </a:extLst>
          </p:cNvPr>
          <p:cNvCxnSpPr/>
          <p:nvPr/>
        </p:nvCxnSpPr>
        <p:spPr>
          <a:xfrm>
            <a:off x="1203960" y="6492240"/>
            <a:ext cx="912876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09E44C2-1A01-9C33-9C4C-E200FBCB1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719242"/>
              </p:ext>
            </p:extLst>
          </p:nvPr>
        </p:nvGraphicFramePr>
        <p:xfrm>
          <a:off x="1203960" y="3655099"/>
          <a:ext cx="4770120" cy="2961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1D9ED3-D7A7-A8B9-BCD8-7180689CAE04}"/>
              </a:ext>
            </a:extLst>
          </p:cNvPr>
          <p:cNvSpPr txBox="1"/>
          <p:nvPr/>
        </p:nvSpPr>
        <p:spPr>
          <a:xfrm>
            <a:off x="6149340" y="4812707"/>
            <a:ext cx="405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IN" b="1" i="1" dirty="0">
                <a:solidFill>
                  <a:schemeClr val="tx2">
                    <a:lumMod val="75000"/>
                  </a:schemeClr>
                </a:solidFill>
              </a:rPr>
              <a:t>Religion Demography of the state </a:t>
            </a:r>
          </a:p>
        </p:txBody>
      </p:sp>
    </p:spTree>
    <p:extLst>
      <p:ext uri="{BB962C8B-B14F-4D97-AF65-F5344CB8AC3E}">
        <p14:creationId xmlns:p14="http://schemas.microsoft.com/office/powerpoint/2010/main" val="157275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7ACB-030B-6E78-1E38-2311735A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279"/>
            <a:ext cx="10515600" cy="1325563"/>
          </a:xfrm>
        </p:spPr>
        <p:txBody>
          <a:bodyPr/>
          <a:lstStyle/>
          <a:p>
            <a:r>
              <a:rPr lang="en-US" b="1" i="1" u="sng" dirty="0">
                <a:solidFill>
                  <a:schemeClr val="tx2">
                    <a:lumMod val="75000"/>
                  </a:schemeClr>
                </a:solidFill>
              </a:rPr>
              <a:t>Why Opposition lost the elections?</a:t>
            </a:r>
            <a:endParaRPr lang="en-IN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290E01-D638-DBDD-71D7-41DDA64B7D10}"/>
              </a:ext>
            </a:extLst>
          </p:cNvPr>
          <p:cNvCxnSpPr/>
          <p:nvPr/>
        </p:nvCxnSpPr>
        <p:spPr>
          <a:xfrm>
            <a:off x="1112520" y="6522720"/>
            <a:ext cx="92506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76082F-F57C-2C3E-F8E8-CA4130FA1DE1}"/>
              </a:ext>
            </a:extLst>
          </p:cNvPr>
          <p:cNvSpPr txBox="1"/>
          <p:nvPr/>
        </p:nvSpPr>
        <p:spPr>
          <a:xfrm>
            <a:off x="1112520" y="1660841"/>
            <a:ext cx="42367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INC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Severe Internal challenges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: The Congress was plagued by deep factionalism. The mismanagement of its star campaigner,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Harish Rawat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—denying him a ticket from his preferred seat and asking him to contest from another seat —exemplified the party's lack of internal coordination.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Reactive Messaging: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 Congress's campaign seemed reactive, focusing on criticizing the BJP's track record rather than offering a compelling, unified vision for the state's future.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9DD99-D510-48EA-365D-ADB5AFC501BF}"/>
              </a:ext>
            </a:extLst>
          </p:cNvPr>
          <p:cNvSpPr txBox="1"/>
          <p:nvPr/>
        </p:nvSpPr>
        <p:spPr>
          <a:xfrm>
            <a:off x="6096000" y="1660842"/>
            <a:ext cx="547116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Lack of Credibility and Ground Connect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: The AAP's primary weakness was its perception as an outsider.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Overly Ambitious and Impractical Promises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: Eye-catching, promises like doubling the state budget in five years were viewed as fiscally irresponsible and lacking a roadmap for implementation. This undercut their credibility.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580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4492-706F-24A0-EF25-1D475E57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49237"/>
            <a:ext cx="8699500" cy="763588"/>
          </a:xfrm>
        </p:spPr>
        <p:txBody>
          <a:bodyPr>
            <a:normAutofit/>
          </a:bodyPr>
          <a:lstStyle/>
          <a:p>
            <a:r>
              <a:rPr lang="en-US" sz="2800" b="1" i="1" u="sng" dirty="0">
                <a:solidFill>
                  <a:schemeClr val="tx2">
                    <a:lumMod val="75000"/>
                  </a:schemeClr>
                </a:solidFill>
              </a:rPr>
              <a:t>Navigating the election strategy for 2027 elections for INC</a:t>
            </a:r>
            <a:endParaRPr lang="en-IN" sz="2800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BDC056-E39B-6FD8-82CD-321EC8796107}"/>
              </a:ext>
            </a:extLst>
          </p:cNvPr>
          <p:cNvCxnSpPr/>
          <p:nvPr/>
        </p:nvCxnSpPr>
        <p:spPr>
          <a:xfrm>
            <a:off x="1112520" y="6446520"/>
            <a:ext cx="958596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C601B5-8CC3-9124-5129-74BB61C8337B}"/>
              </a:ext>
            </a:extLst>
          </p:cNvPr>
          <p:cNvSpPr txBox="1"/>
          <p:nvPr/>
        </p:nvSpPr>
        <p:spPr>
          <a:xfrm>
            <a:off x="647700" y="1335271"/>
            <a:ext cx="5410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After conducting a mini survey of 40+ using google forms among the people of the state on reddit, here are the basic findings we have to take into account before devising a proper strategy for the elections in 2027.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" name="Picture 4" descr="Forms response chart. Question title: what is your age?. Number of responses: 41 responses.">
            <a:extLst>
              <a:ext uri="{FF2B5EF4-FFF2-40B4-BE49-F238E27FC236}">
                <a16:creationId xmlns:a16="http://schemas.microsoft.com/office/drawing/2014/main" id="{B0C577C5-83B3-965A-BB56-1321ADDF8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556" y="1012825"/>
            <a:ext cx="5239644" cy="328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5FD37A-7639-5769-6BED-4457F93A6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156672"/>
            <a:ext cx="5983139" cy="30536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04766D-E832-D450-D2D9-C4CF3B58BDDD}"/>
              </a:ext>
            </a:extLst>
          </p:cNvPr>
          <p:cNvSpPr txBox="1"/>
          <p:nvPr/>
        </p:nvSpPr>
        <p:spPr>
          <a:xfrm>
            <a:off x="7315200" y="4683480"/>
            <a:ext cx="37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1.Age-wise split of the sample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1403D-9E59-2D8C-2E82-3EBA553A7627}"/>
              </a:ext>
            </a:extLst>
          </p:cNvPr>
          <p:cNvSpPr txBox="1"/>
          <p:nvPr/>
        </p:nvSpPr>
        <p:spPr>
          <a:xfrm>
            <a:off x="6647556" y="5498281"/>
            <a:ext cx="4287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2. Gender-wise split of the sample 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4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A609-7C41-BC48-ED6A-10AE5E41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u="sng" dirty="0">
                <a:solidFill>
                  <a:schemeClr val="tx2">
                    <a:lumMod val="75000"/>
                  </a:schemeClr>
                </a:solidFill>
              </a:rPr>
              <a:t>Real time data analysis of people of Uttarakhand</a:t>
            </a:r>
            <a:r>
              <a:rPr lang="en-US" dirty="0"/>
              <a:t> 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C33429-4017-37E5-F26C-4E7D8C7CACC8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01650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orms response chart. Question title:   What  are the top 3 issues faced by  Uttarakhand today?  . Number of responses: .">
            <a:extLst>
              <a:ext uri="{FF2B5EF4-FFF2-40B4-BE49-F238E27FC236}">
                <a16:creationId xmlns:a16="http://schemas.microsoft.com/office/drawing/2014/main" id="{A7E028A1-8340-99C1-21B1-0D1ED773E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09" y="1690688"/>
            <a:ext cx="5984091" cy="292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31DE7-8B4F-A308-45AE-5338FF11A6C4}"/>
              </a:ext>
            </a:extLst>
          </p:cNvPr>
          <p:cNvSpPr txBox="1"/>
          <p:nvPr/>
        </p:nvSpPr>
        <p:spPr>
          <a:xfrm>
            <a:off x="561854" y="4847080"/>
            <a:ext cx="5084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Graph showing the top issues that people face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BE4367-9AB5-3173-D981-D33622BA5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829" y="1690688"/>
            <a:ext cx="5574920" cy="294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EEE2AA-127E-6290-B932-41F2E205D7B8}"/>
              </a:ext>
            </a:extLst>
          </p:cNvPr>
          <p:cNvSpPr txBox="1"/>
          <p:nvPr/>
        </p:nvSpPr>
        <p:spPr>
          <a:xfrm>
            <a:off x="7199077" y="4786549"/>
            <a:ext cx="4036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Pie chart showing the section of the society on which we should keep our focus 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34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2F70A2-0665-9262-5376-711B528B1D42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Forms response chart. Question title:   Which type of message influences you more?  . Number of responses: 41 responses.">
            <a:extLst>
              <a:ext uri="{FF2B5EF4-FFF2-40B4-BE49-F238E27FC236}">
                <a16:creationId xmlns:a16="http://schemas.microsoft.com/office/drawing/2014/main" id="{EE7BCBD2-7CA7-9F0E-2251-A944B23E54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" y="1608815"/>
            <a:ext cx="5384798" cy="368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Forms response chart. Question title:   Which campaign effort had REAL impact on you?  &#10;&#10;&#10;. Number of responses: 41 responses.">
            <a:extLst>
              <a:ext uri="{FF2B5EF4-FFF2-40B4-BE49-F238E27FC236}">
                <a16:creationId xmlns:a16="http://schemas.microsoft.com/office/drawing/2014/main" id="{34F33F48-6BD1-D40D-15F0-03F2BD555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360" y="1612953"/>
            <a:ext cx="6030684" cy="363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96A7C0-A43F-8DED-D3E1-882B16E652DA}"/>
              </a:ext>
            </a:extLst>
          </p:cNvPr>
          <p:cNvSpPr txBox="1"/>
          <p:nvPr/>
        </p:nvSpPr>
        <p:spPr>
          <a:xfrm>
            <a:off x="594360" y="540672"/>
            <a:ext cx="864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u="sng" dirty="0">
                <a:solidFill>
                  <a:schemeClr val="tx2">
                    <a:lumMod val="75000"/>
                  </a:schemeClr>
                </a:solidFill>
              </a:rPr>
              <a:t>Real time data analysis of people of Uttarakhand</a:t>
            </a:r>
            <a:r>
              <a:rPr lang="en-US" sz="2800" dirty="0"/>
              <a:t> 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5B61B-76AE-6888-BD2A-1DC47F374003}"/>
              </a:ext>
            </a:extLst>
          </p:cNvPr>
          <p:cNvSpPr txBox="1"/>
          <p:nvPr/>
        </p:nvSpPr>
        <p:spPr>
          <a:xfrm>
            <a:off x="570414" y="5348994"/>
            <a:ext cx="4709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Graph showing that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Development work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and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local problem solutions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are the areas where people get influenced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86269-1521-478C-E3D6-A74C88796178}"/>
              </a:ext>
            </a:extLst>
          </p:cNvPr>
          <p:cNvSpPr txBox="1"/>
          <p:nvPr/>
        </p:nvSpPr>
        <p:spPr>
          <a:xfrm>
            <a:off x="6355080" y="5393998"/>
            <a:ext cx="4236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Online media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youth and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door to door campaigns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for rural areas are the campaigns styles we should adopt 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842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A1A870-705F-950A-E760-7F3A9468B7F5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9465D8-4B03-83E4-BE1D-3D942747F7B3}"/>
              </a:ext>
            </a:extLst>
          </p:cNvPr>
          <p:cNvSpPr txBox="1"/>
          <p:nvPr/>
        </p:nvSpPr>
        <p:spPr>
          <a:xfrm>
            <a:off x="579120" y="472439"/>
            <a:ext cx="1161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u="sng" dirty="0">
                <a:solidFill>
                  <a:schemeClr val="tx2">
                    <a:lumMod val="75000"/>
                  </a:schemeClr>
                </a:solidFill>
              </a:rPr>
              <a:t>Strategy based on the sample data and recent affairs </a:t>
            </a:r>
            <a:endParaRPr lang="en-IN" sz="3600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723E0-88B5-1D1A-D689-2C8B735C3F9B}"/>
              </a:ext>
            </a:extLst>
          </p:cNvPr>
          <p:cNvSpPr txBox="1"/>
          <p:nvPr/>
        </p:nvSpPr>
        <p:spPr>
          <a:xfrm>
            <a:off x="579120" y="1228395"/>
            <a:ext cx="107823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tx2">
                    <a:lumMod val="75000"/>
                  </a:schemeClr>
                </a:solidFill>
              </a:rPr>
              <a:t>1.Leverage Youth Anger on Examination Leak Scams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The 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state level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paper leak scandal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 has left thousands of youth frustrated and on the streets.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Congress should :</a:t>
            </a:r>
            <a:endParaRPr lang="en-US" sz="2000" b="1" i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Create viral reels showing genuine protesters.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Share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AI-generated videos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visualizing how scams are destroying careers.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Launch campaign like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honest youth vs corrupt system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endParaRPr lang="en-US" sz="2000" i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b="1" i="1" dirty="0">
                <a:solidFill>
                  <a:schemeClr val="tx2">
                    <a:lumMod val="75000"/>
                  </a:schemeClr>
                </a:solidFill>
              </a:rPr>
              <a:t> 2.Pahad vs Plain Regional Divide Narrative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Congress can use the perceived 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hill-plain bias.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Create content highlighting how 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hill districts get ignored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 in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Use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local dialect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content to make it authentic.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038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6BC573-E1A1-E07E-AAA2-0EAD460B71F3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294294-6995-9921-3000-0C032C08D432}"/>
              </a:ext>
            </a:extLst>
          </p:cNvPr>
          <p:cNvSpPr txBox="1"/>
          <p:nvPr/>
        </p:nvSpPr>
        <p:spPr>
          <a:xfrm>
            <a:off x="624840" y="472439"/>
            <a:ext cx="11109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u="sng" dirty="0">
                <a:solidFill>
                  <a:schemeClr val="tx2">
                    <a:lumMod val="75000"/>
                  </a:schemeClr>
                </a:solidFill>
              </a:rPr>
              <a:t>Strategy based on the sample data and recent affairs</a:t>
            </a:r>
            <a:endParaRPr lang="en-IN" sz="3200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E0042-FD4C-3D8C-FCF5-DD595572C5E8}"/>
              </a:ext>
            </a:extLst>
          </p:cNvPr>
          <p:cNvSpPr txBox="1"/>
          <p:nvPr/>
        </p:nvSpPr>
        <p:spPr>
          <a:xfrm>
            <a:off x="541020" y="1195055"/>
            <a:ext cx="10774680" cy="491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000" b="1" i="1" u="sng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3. Prioritizing Unemployment issues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Massive unemployment in the state is a major issue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. Congress can play around the issue. 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Create </a:t>
            </a:r>
            <a:r>
              <a:rPr lang="en-US" sz="2000" b="1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infographics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 comparing employment claims vs reality an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d 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what they will bring to the table. Use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quote-cjk-patch"/>
              </a:rPr>
              <a:t>W</a:t>
            </a:r>
            <a:r>
              <a:rPr lang="en-US" sz="2000" b="0" i="0" dirty="0" err="1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hatsapp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 and other social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m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edia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to 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show how many jobs created vs how many youth entered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w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orkforce.</a:t>
            </a:r>
          </a:p>
          <a:p>
            <a:pPr marL="34290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Use </a:t>
            </a:r>
            <a:r>
              <a:rPr lang="en-US" sz="2000" b="1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student unions</a:t>
            </a:r>
            <a:r>
              <a:rPr lang="en-US" sz="2000" b="0" i="0" dirty="0">
                <a:solidFill>
                  <a:schemeClr val="tx2">
                    <a:lumMod val="75000"/>
                  </a:schemeClr>
                </a:solidFill>
                <a:effectLst/>
                <a:latin typeface="quote-cjk-patch"/>
              </a:rPr>
              <a:t> as amplifiers on university campuses across the state.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000" b="1" i="1" u="sng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4. Environment based issues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quote-cjk-patch"/>
              </a:rPr>
              <a:t>Congress can use the issues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tx2">
                    <a:lumMod val="75000"/>
                  </a:schemeClr>
                </a:solidFill>
              </a:rPr>
              <a:t>Dharali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village (2025)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 destroyed yet construction continued.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Supreme Court width cap (5.5m)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 ignored – 10–12m roads built.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Joshimath sinking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 : warning signs of ecological disaster ignored.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en-US" sz="2000" b="1" i="1" u="sng" dirty="0">
              <a:solidFill>
                <a:schemeClr val="tx2">
                  <a:lumMod val="75000"/>
                </a:schemeClr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94345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CDD498-2614-58AD-9696-84784CC52C0D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1C89EB-17BC-EA99-A189-C2282DC1D797}"/>
              </a:ext>
            </a:extLst>
          </p:cNvPr>
          <p:cNvSpPr txBox="1"/>
          <p:nvPr/>
        </p:nvSpPr>
        <p:spPr>
          <a:xfrm>
            <a:off x="472440" y="274325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u="sng" dirty="0">
                <a:solidFill>
                  <a:schemeClr val="tx2">
                    <a:lumMod val="75000"/>
                  </a:schemeClr>
                </a:solidFill>
              </a:rPr>
              <a:t>Strategy based on the sample data and recent affairs </a:t>
            </a:r>
            <a:endParaRPr lang="en-IN" sz="3200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FC1B4-8303-EAFE-5B3D-11D50699D6D5}"/>
              </a:ext>
            </a:extLst>
          </p:cNvPr>
          <p:cNvSpPr txBox="1"/>
          <p:nvPr/>
        </p:nvSpPr>
        <p:spPr>
          <a:xfrm>
            <a:off x="472440" y="1645919"/>
            <a:ext cx="109270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chemeClr val="tx2">
                    <a:lumMod val="75000"/>
                  </a:schemeClr>
                </a:solidFill>
              </a:rPr>
              <a:t>5. Fifth schedule Demand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Congress can raise demand of fifth schedule status for all hill areas of Uttarakhand. This will give local communities constitutional rights over land, forests, and water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b="1" i="1" u="sng" dirty="0">
                <a:solidFill>
                  <a:schemeClr val="tx2">
                    <a:lumMod val="75000"/>
                  </a:schemeClr>
                </a:solidFill>
              </a:rPr>
              <a:t>7.Migration Issues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Manifesto can contain the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narrative-reverse migration from hills.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Every village will have its own economic plan based on local resources.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Tax holidays will be given to businesses that set up in hill areas.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Local crafts like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Aipan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art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and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Kafal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fruit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products will get government marketing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Target to reduce migration by significant numbers in five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GI tags promise to local products.</a:t>
            </a:r>
          </a:p>
          <a:p>
            <a:endParaRPr lang="en-IN" sz="2000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643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2E81-F657-27FD-5AD3-8E8AD81A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685"/>
            <a:ext cx="10408920" cy="1341754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chemeClr val="tx2">
                    <a:lumMod val="75000"/>
                  </a:schemeClr>
                </a:solidFill>
              </a:rPr>
              <a:t> Area-Wise Seat Analysis: Where Congress Won &amp; Where It Lost</a:t>
            </a:r>
            <a:endParaRPr lang="en-IN" sz="3200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0944C3C-03A2-E3C1-0E60-2119716FDC54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6" descr="A map of different colors with numbers&#10;&#10;AI-generated content may be incorrect.">
            <a:extLst>
              <a:ext uri="{FF2B5EF4-FFF2-40B4-BE49-F238E27FC236}">
                <a16:creationId xmlns:a16="http://schemas.microsoft.com/office/drawing/2014/main" id="{3AEDB1C2-2CEA-8907-BCA4-DA51E4FBB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16" y="1569226"/>
            <a:ext cx="5263271" cy="351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5528E9-4DF9-EB13-70FE-74EDA447ADEF}"/>
              </a:ext>
            </a:extLst>
          </p:cNvPr>
          <p:cNvSpPr txBox="1"/>
          <p:nvPr/>
        </p:nvSpPr>
        <p:spPr>
          <a:xfrm>
            <a:off x="723908" y="2179320"/>
            <a:ext cx="502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Plains(Haridwar, US Nagar,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</a:rPr>
              <a:t>Haldwani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):13 seats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Hills :6 seats</a:t>
            </a:r>
          </a:p>
          <a:p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 In Haridwar district alone, Congress secured 5 seats. From Kumaon region, US Nagar emerged as a strong spot with 4 SC reserved seats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133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8B31-1D8E-A89A-D845-09555C7B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2439"/>
            <a:ext cx="6141720" cy="777878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chemeClr val="tx2">
                    <a:lumMod val="75000"/>
                  </a:schemeClr>
                </a:solidFill>
              </a:rPr>
              <a:t> Strategy for strong areas in the state</a:t>
            </a:r>
            <a:endParaRPr lang="en-IN" sz="3200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0313-557A-891D-1E8C-8C8ECEE32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17320"/>
            <a:ext cx="10546080" cy="524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Key points to take into consideration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Give tickets to the same winning candidates if they have performed. Avoid changing faces in strong seats.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Target seats that BJP won by narrow margins in these same districts.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Examples: Roorkee, Kashipur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sz="2400" b="1" i="1" dirty="0">
                <a:solidFill>
                  <a:schemeClr val="tx2">
                    <a:lumMod val="75000"/>
                  </a:schemeClr>
                </a:solidFill>
              </a:rPr>
              <a:t>Deepen Connect with Core Voters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Haridwar: Muslim + Dalit base consolidation.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US Nagar: SC community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2">
                    <a:lumMod val="75000"/>
                  </a:schemeClr>
                </a:solidFill>
              </a:rPr>
              <a:t>Haldwani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</a:rPr>
              <a:t>: Engage urban-rural mix population.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8132A10-E09D-8DE4-0226-A85BE53113BC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500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1ED0D-864E-29C1-6B4B-DA370759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0" y="349885"/>
            <a:ext cx="8244840" cy="975995"/>
          </a:xfrm>
        </p:spPr>
        <p:txBody>
          <a:bodyPr>
            <a:normAutofit/>
          </a:bodyPr>
          <a:lstStyle/>
          <a:p>
            <a:r>
              <a:rPr lang="en-US" sz="2800" b="1" i="1" u="sng" dirty="0">
                <a:solidFill>
                  <a:schemeClr val="tx2">
                    <a:lumMod val="75000"/>
                  </a:schemeClr>
                </a:solidFill>
              </a:rPr>
              <a:t>Strategy for weak areas in the state</a:t>
            </a:r>
            <a:endParaRPr lang="en-IN" sz="2800" b="1" i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194D-233E-894E-32A6-8CEF8849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90345"/>
            <a:ext cx="10515600" cy="4351338"/>
          </a:xfrm>
        </p:spPr>
        <p:txBody>
          <a:bodyPr/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Remove old faces who have lost elections. Launch new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young leaders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especially in Garhwal region where presence is weak.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In weak areas,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alliances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with local independent candidates or small parties are possible. Avoid vote division in such areas.</a:t>
            </a:r>
          </a:p>
          <a:p>
            <a:pPr marL="0" indent="0">
              <a:buNone/>
            </a:pP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Connect with the public through channels like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WhatsApp.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Create sense of belongingness among the people.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48D951-1677-E1C0-56BC-9A351C4CD8E6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891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8262ED-6138-555E-706B-185EF1F60F0F}"/>
              </a:ext>
            </a:extLst>
          </p:cNvPr>
          <p:cNvCxnSpPr/>
          <p:nvPr/>
        </p:nvCxnSpPr>
        <p:spPr>
          <a:xfrm>
            <a:off x="1264920" y="6385560"/>
            <a:ext cx="9326880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C3B80F7-893F-B44D-A904-BDCDE49EB075}"/>
              </a:ext>
            </a:extLst>
          </p:cNvPr>
          <p:cNvSpPr txBox="1"/>
          <p:nvPr/>
        </p:nvSpPr>
        <p:spPr>
          <a:xfrm>
            <a:off x="3505200" y="2484120"/>
            <a:ext cx="4861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tx2">
                    <a:lumMod val="75000"/>
                  </a:schemeClr>
                </a:solidFill>
              </a:rPr>
              <a:t>The End </a:t>
            </a:r>
            <a:endParaRPr lang="en-IN" sz="9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92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605</TotalTime>
  <Words>1546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quote-cjk-patch</vt:lpstr>
      <vt:lpstr>Office Theme</vt:lpstr>
      <vt:lpstr>Uttarakhand Elections</vt:lpstr>
      <vt:lpstr>INDEX</vt:lpstr>
      <vt:lpstr>Brief History of Elections in Uttarakhand   </vt:lpstr>
      <vt:lpstr>Analysis of 2022 elections data   </vt:lpstr>
      <vt:lpstr>Manifesto highlights of major parties </vt:lpstr>
      <vt:lpstr>Manifestos highlights of major parties </vt:lpstr>
      <vt:lpstr>Why BJP won the elections?  </vt:lpstr>
      <vt:lpstr>Why Opposition lost the elections?</vt:lpstr>
      <vt:lpstr>Navigating the election strategy for 2027 elections for INC</vt:lpstr>
      <vt:lpstr>Real time data analysis of people of Uttarakhand </vt:lpstr>
      <vt:lpstr>PowerPoint Presentation</vt:lpstr>
      <vt:lpstr>PowerPoint Presentation</vt:lpstr>
      <vt:lpstr>PowerPoint Presentation</vt:lpstr>
      <vt:lpstr>PowerPoint Presentation</vt:lpstr>
      <vt:lpstr> Area-Wise Seat Analysis: Where Congress Won &amp; Where It Lost</vt:lpstr>
      <vt:lpstr> Strategy for strong areas in the state</vt:lpstr>
      <vt:lpstr>Strategy for weak areas in the state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DEVRARI</dc:creator>
  <cp:lastModifiedBy>PREETI DEVRARI</cp:lastModifiedBy>
  <cp:revision>2</cp:revision>
  <dcterms:created xsi:type="dcterms:W3CDTF">2026-02-12T14:04:51Z</dcterms:created>
  <dcterms:modified xsi:type="dcterms:W3CDTF">2026-02-19T02:20:22Z</dcterms:modified>
</cp:coreProperties>
</file>